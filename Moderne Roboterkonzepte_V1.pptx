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6" r:id="rId8"/>
    <p:sldId id="270" r:id="rId9"/>
    <p:sldId id="267" r:id="rId10"/>
    <p:sldId id="268" r:id="rId11"/>
    <p:sldId id="269" r:id="rId12"/>
    <p:sldId id="271" r:id="rId13"/>
    <p:sldId id="265" r:id="rId14"/>
    <p:sldId id="264" r:id="rId15"/>
    <p:sldId id="259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FDA94-48E8-4FA4-970F-5384FFC82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44A1E7C-6D75-4D0E-BB86-EA66A3084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54AB88-DE66-4C3E-8CB5-B64CABA1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960777-4A7C-438E-8DE8-7FBEB385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A084D6-E881-45DF-82F6-AB33E79D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150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20183-1B5D-4EE0-A0F5-64DCEFB1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3C080E-2520-4EB1-B86F-8081B3441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FC00CA-52BE-4DA6-8CEA-EAFB1F18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D8AC04-D91E-4FA4-AD45-29D5B513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6573A-97DE-4603-8CCA-EAD3A88F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114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45A2F-ED7B-4797-949D-C698268F2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ACCEB1-3C72-4395-B735-8A2149CC8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32EC41-D464-46F9-A091-A4757E7E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0CE39-6A3B-46D2-9ABB-05A1DC9C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D741C8-1D09-4818-BE4F-755C506B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82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59B02-F3EE-45D7-82FF-896ADFBA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6841F-9BC3-4A08-B16A-20262F890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7C4DB5-588A-44FA-AD9D-0393409CB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E82A67-D525-43DF-8DA0-A171F0BE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5BA51D-6C44-43C8-8515-26532357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60BD59-6F88-4725-8E06-30FDF594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355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3BFE8-EC37-4FD2-992F-415A25807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0FE009-6729-4789-9222-C556FDD95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A6F904-7097-4695-8609-27D301C0C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4E74A53-8504-48BF-8A2A-9D6A67694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1D0964D-F439-41E9-BBBA-5DF655871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270E97-06A7-4E85-A75A-50ED5DC8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76B3980-C1E8-4158-8EB7-AA4733A4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E1A177-B979-4ACE-8A61-85986239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62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BBEB0-A367-455C-A30B-1B8E70C4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46E1D8-5E2F-481A-B481-468C631C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936DAF-9977-4AFD-8E82-705FAB06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FCCD2D-0083-4ABB-A639-E35DF516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76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4BE4F10-7928-4BF8-ADAC-37AE5549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22F0AF-9F0E-42E9-AB98-91CE0BD3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6CDFED-965A-47AA-93D0-55EE9B7C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51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DE30C-77A1-401B-BA36-D5C9EBBD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66C828-F37A-40C8-B19A-EB9B2F9EC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53A628-1986-4156-A7A5-673220DF9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C87709-F5E4-4F02-8AD5-EA7CECAB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0D4105-463C-4328-9475-CB19DBAE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42DEBA-0B0F-4E3E-AE31-9381968A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202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89CDA-FA45-4D30-AF3D-15D885BB7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AA6093-F24A-4534-9C56-FFD7BDD69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57B064-DD1A-4C72-8D29-969608ED5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6CA994-CD8F-4650-B3BE-03ECEC75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DE25D5-857C-4D80-92E4-F5C94328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77EB80-6495-4E20-9A80-2B2A0F98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39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20ABC5-6895-4125-AED2-F9BCC4AB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90162C-B808-4C03-AED9-2C3829A56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96B2FD-826C-4043-8B94-E4B02F1B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0C1EC4-0AD4-431A-99EB-01283AD9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322816-15DB-41B1-9183-5D46ADAA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67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05FB9E5-CEDB-42EB-BD36-300ABDFDD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B051D-E0E9-44CC-A965-6C4D0A48C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D62B57-B951-4363-8094-538A731B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7049EE-33EB-4359-970C-A6586CDB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8F537-FBFE-479D-9A5B-D24ABCDE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27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E3858C-6398-4368-A709-A1B076F2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A1A244-6445-43ED-8205-E9C4B4BD8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077B20-8146-458B-9FE5-D186FB889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7F17-B5F5-46C0-ADB3-A71FF7C14E1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2FFBAE-CB0C-492E-8C87-DE12AA33B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92E57-7E50-4B79-A5E6-0EF947ADF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050CA-E4FA-4A84-B444-9574C567D5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17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F7356C-CA85-4B80-98A7-7C16191C9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Moderne Roboterkonzepte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A94AF6-0FDB-474D-A6BA-250F9586A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Implementierung einer sprachlichen ROS2-Schnittstelle mittels LLM, RAG und LLM-Agenten-Tools</a:t>
            </a:r>
          </a:p>
        </p:txBody>
      </p:sp>
    </p:spTree>
    <p:extLst>
      <p:ext uri="{BB962C8B-B14F-4D97-AF65-F5344CB8AC3E}">
        <p14:creationId xmlns:p14="http://schemas.microsoft.com/office/powerpoint/2010/main" val="44857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 (Folie ausgeblendet lassen)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74A997-FC86-493D-84AB-AB041242F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Kurze Einleitung (LLM gerade sehr aktuelles </a:t>
            </a:r>
            <a:r>
              <a:rPr lang="de-DE" dirty="0" err="1"/>
              <a:t>thema</a:t>
            </a:r>
            <a:r>
              <a:rPr lang="de-DE" dirty="0"/>
              <a:t>,…)</a:t>
            </a:r>
          </a:p>
          <a:p>
            <a:r>
              <a:rPr lang="de-DE" dirty="0"/>
              <a:t>Aufgabenstellung (LLM welches durch Tools auf ROS2 zugreifen kann)</a:t>
            </a:r>
          </a:p>
          <a:p>
            <a:r>
              <a:rPr lang="de-DE" dirty="0"/>
              <a:t>Ergebnis</a:t>
            </a:r>
          </a:p>
          <a:p>
            <a:pPr lvl="1"/>
            <a:r>
              <a:rPr lang="de-DE" dirty="0"/>
              <a:t>Setup (Docker, ROS2, </a:t>
            </a:r>
            <a:r>
              <a:rPr lang="de-DE" dirty="0" err="1"/>
              <a:t>Langchain</a:t>
            </a:r>
            <a:r>
              <a:rPr lang="de-DE" dirty="0"/>
              <a:t>-Framework, Turtlebot3, </a:t>
            </a:r>
            <a:r>
              <a:rPr lang="de-DE" dirty="0" err="1"/>
              <a:t>Map</a:t>
            </a:r>
            <a:r>
              <a:rPr lang="de-DE" dirty="0"/>
              <a:t>, </a:t>
            </a:r>
            <a:r>
              <a:rPr lang="de-DE" dirty="0" err="1"/>
              <a:t>Gemini&amp;Mistral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Systemaufbau (Chatbot.py)</a:t>
            </a:r>
          </a:p>
          <a:p>
            <a:pPr lvl="2"/>
            <a:r>
              <a:rPr lang="de-DE" dirty="0"/>
              <a:t>RAG-System</a:t>
            </a:r>
          </a:p>
          <a:p>
            <a:pPr lvl="2"/>
            <a:r>
              <a:rPr lang="de-DE" dirty="0"/>
              <a:t>Tools</a:t>
            </a:r>
          </a:p>
          <a:p>
            <a:pPr lvl="2"/>
            <a:r>
              <a:rPr lang="de-DE" dirty="0"/>
              <a:t>ROS2 Interface</a:t>
            </a:r>
          </a:p>
          <a:p>
            <a:pPr lvl="2"/>
            <a:r>
              <a:rPr lang="de-DE" dirty="0"/>
              <a:t>UI</a:t>
            </a:r>
          </a:p>
          <a:p>
            <a:r>
              <a:rPr lang="de-DE" dirty="0"/>
              <a:t>Grenzen des Systems</a:t>
            </a:r>
          </a:p>
          <a:p>
            <a:pPr lvl="1"/>
            <a:r>
              <a:rPr lang="de-DE" dirty="0" err="1"/>
              <a:t>Wait</a:t>
            </a:r>
            <a:r>
              <a:rPr lang="de-DE" dirty="0"/>
              <a:t>-Funktion (keine </a:t>
            </a:r>
            <a:r>
              <a:rPr lang="de-DE" dirty="0" err="1"/>
              <a:t>Itteration</a:t>
            </a:r>
            <a:r>
              <a:rPr lang="de-DE" dirty="0"/>
              <a:t> durch </a:t>
            </a:r>
            <a:r>
              <a:rPr lang="de-DE" dirty="0" err="1"/>
              <a:t>Agend</a:t>
            </a:r>
            <a:r>
              <a:rPr lang="de-DE" dirty="0"/>
              <a:t> möglich)</a:t>
            </a:r>
          </a:p>
          <a:p>
            <a:pPr lvl="1"/>
            <a:r>
              <a:rPr lang="de-DE" dirty="0" err="1"/>
              <a:t>Flag</a:t>
            </a:r>
            <a:r>
              <a:rPr lang="de-DE" dirty="0"/>
              <a:t> beim Erreichen der Funktion (Implementiert, aber bringt nichts da LLM abbricht)</a:t>
            </a:r>
          </a:p>
          <a:p>
            <a:r>
              <a:rPr lang="de-DE" dirty="0"/>
              <a:t>Demonstration (live bzw. </a:t>
            </a:r>
            <a:r>
              <a:rPr lang="de-DE" dirty="0" err="1"/>
              <a:t>video</a:t>
            </a:r>
            <a:r>
              <a:rPr lang="de-DE" dirty="0"/>
              <a:t>)</a:t>
            </a:r>
          </a:p>
          <a:p>
            <a:pPr lvl="2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8046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74A997-FC86-493D-84AB-AB041242F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LLMs immer präsenter, in den meisten Fällen aber in ihrer geschlossenen Umgebung ohne physische Auswirkungen</a:t>
            </a:r>
          </a:p>
          <a:p>
            <a:r>
              <a:rPr lang="de-DE" dirty="0"/>
              <a:t>Durch Einsatz von LLM-</a:t>
            </a:r>
            <a:r>
              <a:rPr lang="de-DE" dirty="0" err="1"/>
              <a:t>Agents</a:t>
            </a:r>
            <a:r>
              <a:rPr lang="de-DE" dirty="0"/>
              <a:t>: LLMs können Tools aufrufen, welche die Schnittstelle zur realen Welt darstellen</a:t>
            </a:r>
          </a:p>
          <a:p>
            <a:r>
              <a:rPr lang="de-DE" dirty="0"/>
              <a:t>Einfluss in der Robotik: Robotersteuerung durch Instruktionen an den Roboter in natürlicher Sprache</a:t>
            </a:r>
          </a:p>
        </p:txBody>
      </p:sp>
    </p:spTree>
    <p:extLst>
      <p:ext uri="{BB962C8B-B14F-4D97-AF65-F5344CB8AC3E}">
        <p14:creationId xmlns:p14="http://schemas.microsoft.com/office/powerpoint/2010/main" val="319197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10A49-C0B4-4D0B-B027-84498D35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A32B42-6829-4EAB-AF71-06735E82F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Implementierung eines </a:t>
            </a:r>
            <a:r>
              <a:rPr lang="de-DE" dirty="0" err="1"/>
              <a:t>Chatbots</a:t>
            </a:r>
            <a:r>
              <a:rPr lang="de-DE" dirty="0"/>
              <a:t> zur Steuerung einer Roboteranwendung (LLM-Interface, RAG, </a:t>
            </a:r>
            <a:r>
              <a:rPr lang="de-DE" dirty="0" err="1"/>
              <a:t>History</a:t>
            </a:r>
            <a:r>
              <a:rPr lang="de-DE" dirty="0"/>
              <a:t>, Agent, </a:t>
            </a:r>
            <a:r>
              <a:rPr lang="de-DE" dirty="0" err="1"/>
              <a:t>Tooling</a:t>
            </a:r>
            <a:r>
              <a:rPr lang="de-DE" dirty="0"/>
              <a:t>)</a:t>
            </a:r>
          </a:p>
          <a:p>
            <a:r>
              <a:rPr lang="de-DE" dirty="0"/>
              <a:t>LLM muss Userprompt selbstständig interpretieren und die Infos zur </a:t>
            </a:r>
            <a:r>
              <a:rPr lang="de-DE" dirty="0" err="1"/>
              <a:t>Zielpose</a:t>
            </a:r>
            <a:r>
              <a:rPr lang="de-DE" dirty="0"/>
              <a:t> dann aus der Angabe extrahieren</a:t>
            </a:r>
          </a:p>
          <a:p>
            <a:r>
              <a:rPr lang="de-DE" dirty="0"/>
              <a:t>System (bzw. Agent) muss selbstständig entscheiden, wann welches Tool aufgerufen wird</a:t>
            </a:r>
          </a:p>
          <a:p>
            <a:r>
              <a:rPr lang="de-DE" dirty="0"/>
              <a:t>Input: natürliche Sprache („Fahr auf B“)</a:t>
            </a:r>
          </a:p>
          <a:p>
            <a:r>
              <a:rPr lang="de-DE" dirty="0"/>
              <a:t>Output: Publishen von Koordinaten auf ROS2 Topic (-&gt;Roboter fährt auf B)</a:t>
            </a:r>
          </a:p>
          <a:p>
            <a:endParaRPr lang="de-DE" dirty="0"/>
          </a:p>
        </p:txBody>
      </p:sp>
      <p:pic>
        <p:nvPicPr>
          <p:cNvPr id="4" name="Picture 6" descr="ROBOTIS Robotis TurtleBot3 Burger, Raspberry Pi 4, 2GB | professionelle  Robotik günstig kaufen | reichelt elektronik">
            <a:extLst>
              <a:ext uri="{FF2B5EF4-FFF2-40B4-BE49-F238E27FC236}">
                <a16:creationId xmlns:a16="http://schemas.microsoft.com/office/drawing/2014/main" id="{8805AB96-1F67-435A-8870-B788AC43A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840" y="229059"/>
            <a:ext cx="1520232" cy="181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1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0DC77-A7E8-4845-AA3B-6FFBD000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678319-A667-4DF8-BFE8-018041F71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01100" cy="4351338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LLMs: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Google Gemini-2.5-flash (begrenzt Tokens)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Mistral-</a:t>
            </a:r>
            <a:r>
              <a:rPr lang="de-DE" dirty="0" err="1"/>
              <a:t>small</a:t>
            </a:r>
            <a:r>
              <a:rPr lang="de-DE" dirty="0"/>
              <a:t>-</a:t>
            </a:r>
            <a:r>
              <a:rPr lang="de-DE" dirty="0" err="1"/>
              <a:t>latest</a:t>
            </a:r>
            <a:br>
              <a:rPr lang="de-DE" dirty="0"/>
            </a:br>
            <a:endParaRPr lang="de-DE" dirty="0"/>
          </a:p>
          <a:p>
            <a:r>
              <a:rPr lang="de-DE" dirty="0" err="1"/>
              <a:t>Langchain</a:t>
            </a:r>
            <a:r>
              <a:rPr lang="de-DE" dirty="0"/>
              <a:t>-Orchestrierungsframework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Funktionen zum Erstellen von </a:t>
            </a:r>
            <a:r>
              <a:rPr lang="de-DE" dirty="0" err="1"/>
              <a:t>Agents</a:t>
            </a:r>
            <a:r>
              <a:rPr lang="de-DE" dirty="0"/>
              <a:t>, welche Tools aufrufen können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Funktionen zum Erstellen des RAG-Systems &amp;der Tools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Funktionen zum formatieren der Inputs (</a:t>
            </a:r>
            <a:r>
              <a:rPr lang="de-DE" dirty="0" err="1"/>
              <a:t>User&amp;Systempromt</a:t>
            </a:r>
            <a:r>
              <a:rPr lang="de-DE" dirty="0"/>
              <a:t>, </a:t>
            </a:r>
            <a:r>
              <a:rPr lang="de-DE" dirty="0" err="1"/>
              <a:t>History</a:t>
            </a:r>
            <a:r>
              <a:rPr lang="de-DE" dirty="0"/>
              <a:t>) &amp;Outputs (Antwort des LLMs) für Agent</a:t>
            </a:r>
          </a:p>
          <a:p>
            <a:r>
              <a:rPr lang="de-DE" dirty="0"/>
              <a:t>ROS2 (</a:t>
            </a:r>
            <a:r>
              <a:rPr lang="de-DE" dirty="0" err="1"/>
              <a:t>Humble</a:t>
            </a:r>
            <a:r>
              <a:rPr lang="de-DE" dirty="0"/>
              <a:t>):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Simulation des Turtlebot3 in </a:t>
            </a:r>
            <a:r>
              <a:rPr lang="de-DE" dirty="0" err="1"/>
              <a:t>Gazebo</a:t>
            </a:r>
            <a:endParaRPr lang="de-DE" dirty="0"/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/>
              <a:t>Ansteuerung des Turtlebot3 durch das LLM</a:t>
            </a:r>
          </a:p>
          <a:p>
            <a:r>
              <a:rPr lang="de-DE" dirty="0"/>
              <a:t>Vollständige Implementierung in einem       Docker-Container</a:t>
            </a:r>
          </a:p>
          <a:p>
            <a:endParaRPr lang="de-DE" dirty="0"/>
          </a:p>
          <a:p>
            <a:pPr lvl="2"/>
            <a:endParaRPr lang="de-DE" dirty="0"/>
          </a:p>
          <a:p>
            <a:endParaRPr lang="de-DE" dirty="0"/>
          </a:p>
        </p:txBody>
      </p:sp>
      <p:sp>
        <p:nvSpPr>
          <p:cNvPr id="4" name="Geschweifte Klammer rechts 3">
            <a:extLst>
              <a:ext uri="{FF2B5EF4-FFF2-40B4-BE49-F238E27FC236}">
                <a16:creationId xmlns:a16="http://schemas.microsoft.com/office/drawing/2014/main" id="{6C188DD0-49F1-4095-B619-29831F28E376}"/>
              </a:ext>
            </a:extLst>
          </p:cNvPr>
          <p:cNvSpPr/>
          <p:nvPr/>
        </p:nvSpPr>
        <p:spPr>
          <a:xfrm>
            <a:off x="8957060" y="2130207"/>
            <a:ext cx="636494" cy="822544"/>
          </a:xfrm>
          <a:prstGeom prst="rightBrac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28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EF78BB-885B-45E1-988F-6902FC97AB97}"/>
              </a:ext>
            </a:extLst>
          </p:cNvPr>
          <p:cNvSpPr txBox="1"/>
          <p:nvPr/>
        </p:nvSpPr>
        <p:spPr>
          <a:xfrm>
            <a:off x="9734085" y="4857439"/>
            <a:ext cx="2154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Schnittstelle Tools &amp; </a:t>
            </a:r>
          </a:p>
          <a:p>
            <a:r>
              <a:rPr lang="de-DE" i="1" dirty="0"/>
              <a:t>(simulierter) Roboter</a:t>
            </a:r>
          </a:p>
        </p:txBody>
      </p:sp>
      <p:sp>
        <p:nvSpPr>
          <p:cNvPr id="6" name="Geschweifte Klammer rechts 5">
            <a:extLst>
              <a:ext uri="{FF2B5EF4-FFF2-40B4-BE49-F238E27FC236}">
                <a16:creationId xmlns:a16="http://schemas.microsoft.com/office/drawing/2014/main" id="{6DCB5B05-C612-4474-96C6-92D06F20E8D9}"/>
              </a:ext>
            </a:extLst>
          </p:cNvPr>
          <p:cNvSpPr/>
          <p:nvPr/>
        </p:nvSpPr>
        <p:spPr>
          <a:xfrm>
            <a:off x="8915760" y="4777536"/>
            <a:ext cx="636494" cy="806139"/>
          </a:xfrm>
          <a:prstGeom prst="rightBrac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28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A2B26B5-3EEC-43B4-8BB4-8F1B51B4DE9F}"/>
              </a:ext>
            </a:extLst>
          </p:cNvPr>
          <p:cNvSpPr txBox="1"/>
          <p:nvPr/>
        </p:nvSpPr>
        <p:spPr>
          <a:xfrm>
            <a:off x="9734085" y="2294933"/>
            <a:ext cx="182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/>
              <a:t>Schnittstelle User und System</a:t>
            </a:r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7CF208C5-CFCD-41F7-8E9F-B3678D51206B}"/>
              </a:ext>
            </a:extLst>
          </p:cNvPr>
          <p:cNvSpPr/>
          <p:nvPr/>
        </p:nvSpPr>
        <p:spPr>
          <a:xfrm>
            <a:off x="8957060" y="3257333"/>
            <a:ext cx="595194" cy="1305141"/>
          </a:xfrm>
          <a:prstGeom prst="rightBrace">
            <a:avLst/>
          </a:prstGeom>
          <a:ln w="317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280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C0BAC1A-8B07-404C-B808-DF8E5959184B}"/>
              </a:ext>
            </a:extLst>
          </p:cNvPr>
          <p:cNvSpPr txBox="1"/>
          <p:nvPr/>
        </p:nvSpPr>
        <p:spPr>
          <a:xfrm>
            <a:off x="9734085" y="3563937"/>
            <a:ext cx="182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/>
              <a:t>Schnittstelle LLM, RAG &amp;Tools</a:t>
            </a:r>
          </a:p>
        </p:txBody>
      </p:sp>
      <p:pic>
        <p:nvPicPr>
          <p:cNvPr id="2050" name="Picture 2" descr="Gemini logo icon | Premium Vector">
            <a:extLst>
              <a:ext uri="{FF2B5EF4-FFF2-40B4-BE49-F238E27FC236}">
                <a16:creationId xmlns:a16="http://schemas.microsoft.com/office/drawing/2014/main" id="{5D8A61F1-4D3F-478F-98B8-F032FB32C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541" y="2215197"/>
            <a:ext cx="264159" cy="26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stral AI Icon logo transparent PNG - StickPNG">
            <a:extLst>
              <a:ext uri="{FF2B5EF4-FFF2-40B4-BE49-F238E27FC236}">
                <a16:creationId xmlns:a16="http://schemas.microsoft.com/office/drawing/2014/main" id="{135AE1B0-D961-4475-86FE-98DF67C4C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720" y="2542748"/>
            <a:ext cx="329256" cy="21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955EEC5-2526-4B98-9590-9336DC2EF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406" y="3106756"/>
            <a:ext cx="595194" cy="301154"/>
          </a:xfrm>
          <a:prstGeom prst="rect">
            <a:avLst/>
          </a:prstGeom>
        </p:spPr>
      </p:pic>
      <p:pic>
        <p:nvPicPr>
          <p:cNvPr id="2056" name="Picture 8" descr="Docker logos vector in (.SVG, .EPS, .AI, .CDR, .PDF) free download">
            <a:extLst>
              <a:ext uri="{FF2B5EF4-FFF2-40B4-BE49-F238E27FC236}">
                <a16:creationId xmlns:a16="http://schemas.microsoft.com/office/drawing/2014/main" id="{B0DC5767-2F7B-40AC-855B-66F542396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563" y="5718612"/>
            <a:ext cx="346313" cy="27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19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Verbinder: gewinkelt 5">
            <a:extLst>
              <a:ext uri="{FF2B5EF4-FFF2-40B4-BE49-F238E27FC236}">
                <a16:creationId xmlns:a16="http://schemas.microsoft.com/office/drawing/2014/main" id="{5691F441-A938-44C2-823A-700A3CF4E6D0}"/>
              </a:ext>
            </a:extLst>
          </p:cNvPr>
          <p:cNvCxnSpPr>
            <a:cxnSpLocks/>
          </p:cNvCxnSpPr>
          <p:nvPr/>
        </p:nvCxnSpPr>
        <p:spPr>
          <a:xfrm>
            <a:off x="6096000" y="3069272"/>
            <a:ext cx="2476500" cy="1052849"/>
          </a:xfrm>
          <a:prstGeom prst="bentConnector3">
            <a:avLst>
              <a:gd name="adj1" fmla="val 132692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0DA5045C-C366-4633-ABBC-86C402A1CC3A}"/>
              </a:ext>
            </a:extLst>
          </p:cNvPr>
          <p:cNvCxnSpPr>
            <a:cxnSpLocks/>
          </p:cNvCxnSpPr>
          <p:nvPr/>
        </p:nvCxnSpPr>
        <p:spPr>
          <a:xfrm>
            <a:off x="6736556" y="2941756"/>
            <a:ext cx="1835944" cy="1820744"/>
          </a:xfrm>
          <a:prstGeom prst="bentConnector3">
            <a:avLst>
              <a:gd name="adj1" fmla="val 159468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1F0C95B6-5A45-4F31-8C07-81485E04EED4}"/>
              </a:ext>
            </a:extLst>
          </p:cNvPr>
          <p:cNvCxnSpPr>
            <a:cxnSpLocks/>
          </p:cNvCxnSpPr>
          <p:nvPr/>
        </p:nvCxnSpPr>
        <p:spPr>
          <a:xfrm>
            <a:off x="6115050" y="3192105"/>
            <a:ext cx="2438400" cy="407750"/>
          </a:xfrm>
          <a:prstGeom prst="bentConnector3">
            <a:avLst>
              <a:gd name="adj1" fmla="val 122656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40C1BBF1-1364-4797-BD0D-E1B528B9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Systemaufbau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505DA8CD-1020-4F22-8968-530F34B55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99189"/>
              </p:ext>
            </p:extLst>
          </p:nvPr>
        </p:nvGraphicFramePr>
        <p:xfrm>
          <a:off x="838200" y="2023745"/>
          <a:ext cx="7715250" cy="3032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0682">
                  <a:extLst>
                    <a:ext uri="{9D8B030D-6E8A-4147-A177-3AD203B41FA5}">
                      <a16:colId xmlns:a16="http://schemas.microsoft.com/office/drawing/2014/main" val="564123134"/>
                    </a:ext>
                  </a:extLst>
                </a:gridCol>
                <a:gridCol w="5014568">
                  <a:extLst>
                    <a:ext uri="{9D8B030D-6E8A-4147-A177-3AD203B41FA5}">
                      <a16:colId xmlns:a16="http://schemas.microsoft.com/office/drawing/2014/main" val="793518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Inhalt der Datei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77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Frontend: Interaktion mit User über 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11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Chatbot.py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Main-Backend-File: legt LLM-Agent an, </a:t>
                      </a:r>
                    </a:p>
                    <a:p>
                      <a:r>
                        <a:rPr lang="de-DE" dirty="0"/>
                        <a:t>verarbeitet Interaktion mit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62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Implementierung des RAG-Systems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93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ROS_tools.py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Implementierung des LLM-Agent-Tools „</a:t>
                      </a:r>
                      <a:r>
                        <a:rPr lang="de-DE" dirty="0" err="1"/>
                        <a:t>ROS_send_goal</a:t>
                      </a:r>
                      <a:r>
                        <a:rPr lang="de-DE" dirty="0"/>
                        <a:t>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263596"/>
                  </a:ext>
                </a:extLst>
              </a:tr>
              <a:tr h="300355">
                <a:tc>
                  <a:txBody>
                    <a:bodyPr/>
                    <a:lstStyle/>
                    <a:p>
                      <a:r>
                        <a:rPr lang="de-DE" dirty="0"/>
                        <a:t>ROS_cmd_vel_publisher.py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Publishen der vom Tool generierten </a:t>
                      </a:r>
                      <a:r>
                        <a:rPr lang="de-DE" dirty="0" err="1"/>
                        <a:t>Zielpose</a:t>
                      </a:r>
                      <a:r>
                        <a:rPr lang="de-DE" dirty="0"/>
                        <a:t> auf das Topic „</a:t>
                      </a:r>
                      <a:r>
                        <a:rPr lang="de-DE" dirty="0" err="1"/>
                        <a:t>goal_pose</a:t>
                      </a:r>
                      <a:r>
                        <a:rPr lang="de-DE" dirty="0"/>
                        <a:t>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73914"/>
                  </a:ext>
                </a:extLst>
              </a:tr>
            </a:tbl>
          </a:graphicData>
        </a:graphic>
      </p:graphicFrame>
      <p:sp>
        <p:nvSpPr>
          <p:cNvPr id="25" name="Textfeld 24">
            <a:extLst>
              <a:ext uri="{FF2B5EF4-FFF2-40B4-BE49-F238E27FC236}">
                <a16:creationId xmlns:a16="http://schemas.microsoft.com/office/drawing/2014/main" id="{19401E12-D962-418B-9FBB-DAE2784738A1}"/>
              </a:ext>
            </a:extLst>
          </p:cNvPr>
          <p:cNvSpPr txBox="1"/>
          <p:nvPr/>
        </p:nvSpPr>
        <p:spPr>
          <a:xfrm>
            <a:off x="7639050" y="2903656"/>
            <a:ext cx="1381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chemeClr val="accent2">
                    <a:lumMod val="75000"/>
                  </a:schemeClr>
                </a:solidFill>
              </a:rPr>
              <a:t>Ruft auf: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8E8906D-F2F5-4DD7-BC4C-24C8CCA04E83}"/>
              </a:ext>
            </a:extLst>
          </p:cNvPr>
          <p:cNvCxnSpPr/>
          <p:nvPr/>
        </p:nvCxnSpPr>
        <p:spPr>
          <a:xfrm>
            <a:off x="7648575" y="2805947"/>
            <a:ext cx="0" cy="5614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82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Systemaufbau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053689B-C79E-4044-948A-E685EACDA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36" y="1576968"/>
            <a:ext cx="11461728" cy="470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55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97836ED-9C04-4A43-B66F-2F613DA2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66" y="86574"/>
            <a:ext cx="5456569" cy="223752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User-Interface</a:t>
            </a:r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EE694851-7D3D-468C-915E-07BA499622A4}"/>
              </a:ext>
            </a:extLst>
          </p:cNvPr>
          <p:cNvSpPr/>
          <p:nvPr/>
        </p:nvSpPr>
        <p:spPr>
          <a:xfrm rot="12242680">
            <a:off x="8627427" y="2171952"/>
            <a:ext cx="638175" cy="31432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1314242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RAG-System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D1D530A-1638-41EB-B337-7F8E7A13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66" y="86574"/>
            <a:ext cx="5456569" cy="2237526"/>
          </a:xfrm>
          <a:prstGeom prst="rect">
            <a:avLst/>
          </a:prstGeom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D3C46C0E-18CF-4A4A-B1F7-1AAE3A9D645D}"/>
              </a:ext>
            </a:extLst>
          </p:cNvPr>
          <p:cNvSpPr/>
          <p:nvPr/>
        </p:nvSpPr>
        <p:spPr>
          <a:xfrm>
            <a:off x="6096000" y="1119188"/>
            <a:ext cx="638175" cy="31432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928BFF6-C878-487E-ADD5-B183F2660EF9}"/>
              </a:ext>
            </a:extLst>
          </p:cNvPr>
          <p:cNvSpPr txBox="1"/>
          <p:nvPr/>
        </p:nvSpPr>
        <p:spPr>
          <a:xfrm>
            <a:off x="1095375" y="3078163"/>
            <a:ext cx="85261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2000" b="1" dirty="0"/>
              <a:t>Chunking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Splittet den Fließtext der </a:t>
            </a:r>
            <a:r>
              <a:rPr lang="de-DE" dirty="0" err="1"/>
              <a:t>Angabe.tex</a:t>
            </a:r>
            <a:r>
              <a:rPr lang="de-DE" dirty="0"/>
              <a:t> in Chunks auf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/>
              <a:t>Word </a:t>
            </a:r>
            <a:r>
              <a:rPr lang="de-DE" sz="2000" b="1" dirty="0" err="1"/>
              <a:t>Embeddings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Darstellung der Chunks im Vektorraum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/>
              <a:t>Vector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Vektordatenbank (FAISS) anlegen, Chunks (in Vektordarstellung) in Vektordatenbank laden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 err="1"/>
              <a:t>Querly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Userinput in Vektordarstellung (Word Embedding) umwandeln (NICHT zerteilen!)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Ähnliche Vektoren in Vektordatenbank suchen und zurückgeben </a:t>
            </a:r>
          </a:p>
          <a:p>
            <a:endParaRPr lang="de-DE" sz="2000" b="1" dirty="0"/>
          </a:p>
          <a:p>
            <a:pPr algn="ctr"/>
            <a:r>
              <a:rPr lang="de-DE" sz="2000" b="1" dirty="0">
                <a:sym typeface="Wingdings" panose="05000000000000000000" pitchFamily="2" charset="2"/>
              </a:rPr>
              <a:t> </a:t>
            </a:r>
            <a:r>
              <a:rPr lang="de-DE" sz="2000" b="1" dirty="0"/>
              <a:t>Übergabe der Ähnlichen Chunks in </a:t>
            </a:r>
            <a:r>
              <a:rPr lang="de-DE" sz="2000" b="1" dirty="0" err="1"/>
              <a:t>History</a:t>
            </a:r>
            <a:r>
              <a:rPr lang="de-DE" sz="2000" b="1" dirty="0"/>
              <a:t> des LLM-</a:t>
            </a:r>
            <a:r>
              <a:rPr lang="de-DE" sz="2000" b="1" dirty="0" err="1"/>
              <a:t>Agents</a:t>
            </a:r>
            <a:r>
              <a:rPr lang="de-DE" sz="2000" b="1" dirty="0"/>
              <a:t> </a:t>
            </a:r>
            <a:r>
              <a:rPr lang="de-DE" sz="2000" b="1" dirty="0">
                <a:sym typeface="Wingdings" panose="05000000000000000000" pitchFamily="2" charset="2"/>
              </a:rPr>
              <a:t>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69EA924-E9CF-418C-A9F9-392F14582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215" y="3271203"/>
            <a:ext cx="1639930" cy="224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46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LLM-Agent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C63714-5025-4F3D-86D8-475771A0D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66" y="86574"/>
            <a:ext cx="5456569" cy="2237526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4D28D296-38DE-4D6B-9272-DBD66E0F486D}"/>
              </a:ext>
            </a:extLst>
          </p:cNvPr>
          <p:cNvSpPr/>
          <p:nvPr/>
        </p:nvSpPr>
        <p:spPr>
          <a:xfrm rot="8542629">
            <a:off x="8605614" y="832643"/>
            <a:ext cx="638175" cy="31432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AFFF885-AB95-45AB-8E3D-D0366813CB6B}"/>
              </a:ext>
            </a:extLst>
          </p:cNvPr>
          <p:cNvSpPr txBox="1"/>
          <p:nvPr/>
        </p:nvSpPr>
        <p:spPr>
          <a:xfrm>
            <a:off x="1095375" y="3078163"/>
            <a:ext cx="84486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2000" b="1" dirty="0"/>
              <a:t>LLM initialisieren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/>
              <a:t>Vollständigen Prompt anlegen (Systemprompt, Platzhalter für Userprompt, Historie)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 err="1"/>
              <a:t>LLM_Agent</a:t>
            </a:r>
            <a:r>
              <a:rPr lang="de-DE" sz="2000" b="1" dirty="0"/>
              <a:t> initialisieren (LLM, Tools, </a:t>
            </a:r>
            <a:r>
              <a:rPr lang="de-DE" sz="2000" b="1" dirty="0" err="1"/>
              <a:t>full_prompt</a:t>
            </a:r>
            <a:r>
              <a:rPr lang="de-DE" sz="2000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 err="1"/>
              <a:t>LLM_agent_executor</a:t>
            </a:r>
            <a:r>
              <a:rPr lang="de-DE" sz="2000" b="1" dirty="0"/>
              <a:t> anlegen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/>
              <a:t>Ausführen des </a:t>
            </a:r>
            <a:r>
              <a:rPr lang="de-DE" sz="2000" b="1" dirty="0" err="1"/>
              <a:t>Agents</a:t>
            </a:r>
            <a:r>
              <a:rPr lang="de-DE" sz="2000" b="1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/>
              <a:t>Führt </a:t>
            </a:r>
            <a:r>
              <a:rPr lang="de-DE" dirty="0" err="1"/>
              <a:t>LLM_Agent</a:t>
            </a:r>
            <a:r>
              <a:rPr lang="de-DE" dirty="0"/>
              <a:t> aus, verwendet Tools basierend auf </a:t>
            </a:r>
            <a:r>
              <a:rPr lang="de-DE" dirty="0" err="1"/>
              <a:t>Systempromt</a:t>
            </a:r>
            <a:r>
              <a:rPr lang="de-DE" dirty="0"/>
              <a:t>, Historie und Userprompt-interpretation durch LLM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sz="2000" b="1" dirty="0"/>
          </a:p>
          <a:p>
            <a:pPr marL="342900" indent="-342900">
              <a:buFont typeface="+mj-lt"/>
              <a:buAutoNum type="arabicPeriod"/>
            </a:pPr>
            <a:endParaRPr lang="de-DE" sz="2000" dirty="0"/>
          </a:p>
        </p:txBody>
      </p:sp>
      <p:pic>
        <p:nvPicPr>
          <p:cNvPr id="9218" name="Picture 2" descr="Workflows and agents - Docs by LangChain">
            <a:extLst>
              <a:ext uri="{FF2B5EF4-FFF2-40B4-BE49-F238E27FC236}">
                <a16:creationId xmlns:a16="http://schemas.microsoft.com/office/drawing/2014/main" id="{F2A0111C-70FA-457E-9C81-19907A62F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159" y="5263533"/>
            <a:ext cx="3878841" cy="159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053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Tooling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5EEE94-EEAE-400E-99CD-7C18BDED2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66" y="86574"/>
            <a:ext cx="5456569" cy="2237526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64308C38-40E2-44F8-96C6-C948D3663A23}"/>
              </a:ext>
            </a:extLst>
          </p:cNvPr>
          <p:cNvSpPr/>
          <p:nvPr/>
        </p:nvSpPr>
        <p:spPr>
          <a:xfrm rot="5400000">
            <a:off x="9829800" y="594519"/>
            <a:ext cx="638175" cy="31432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2A6AC0E-AAA6-4FD6-9E96-A06F941263D6}"/>
              </a:ext>
            </a:extLst>
          </p:cNvPr>
          <p:cNvSpPr txBox="1"/>
          <p:nvPr/>
        </p:nvSpPr>
        <p:spPr>
          <a:xfrm>
            <a:off x="1552575" y="5638483"/>
            <a:ext cx="36493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ROS_send_goal</a:t>
            </a: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Übergabe von  x, y &amp;</a:t>
            </a:r>
            <a:r>
              <a:rPr lang="de-DE" sz="1600" dirty="0" err="1"/>
              <a:t>thetta</a:t>
            </a:r>
            <a:r>
              <a:rPr lang="de-DE" sz="1600" dirty="0"/>
              <a:t> durch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Ruft Publisher-Funktion auf und übergibt die x, y und </a:t>
            </a:r>
            <a:r>
              <a:rPr lang="de-DE" sz="1600" dirty="0" err="1"/>
              <a:t>thetta</a:t>
            </a:r>
            <a:endParaRPr lang="de-DE" sz="16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675070C-886E-42C9-B19B-630E713F3712}"/>
              </a:ext>
            </a:extLst>
          </p:cNvPr>
          <p:cNvSpPr txBox="1"/>
          <p:nvPr/>
        </p:nvSpPr>
        <p:spPr>
          <a:xfrm>
            <a:off x="6200775" y="5619988"/>
            <a:ext cx="38779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ROS_get_navigation_status</a:t>
            </a: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Überprüft, ob Roboter sein Ziel erreicht 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Gibt Status des Roboters zurück</a:t>
            </a:r>
          </a:p>
        </p:txBody>
      </p:sp>
      <p:pic>
        <p:nvPicPr>
          <p:cNvPr id="11" name="Grafik 10" descr="Werkzeuge">
            <a:extLst>
              <a:ext uri="{FF2B5EF4-FFF2-40B4-BE49-F238E27FC236}">
                <a16:creationId xmlns:a16="http://schemas.microsoft.com/office/drawing/2014/main" id="{E5842827-CFFF-4C83-94FE-A3E017DA1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2650" y="5685591"/>
            <a:ext cx="238125" cy="238125"/>
          </a:xfrm>
          <a:prstGeom prst="rect">
            <a:avLst/>
          </a:prstGeom>
        </p:spPr>
      </p:pic>
      <p:pic>
        <p:nvPicPr>
          <p:cNvPr id="12" name="Grafik 11" descr="Werkzeuge">
            <a:extLst>
              <a:ext uri="{FF2B5EF4-FFF2-40B4-BE49-F238E27FC236}">
                <a16:creationId xmlns:a16="http://schemas.microsoft.com/office/drawing/2014/main" id="{0EFB8915-81EB-4EF2-8D6A-B106538C3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5412" y="5704086"/>
            <a:ext cx="238125" cy="23812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DEA33E52-A5FC-41F5-8AE8-7E918B05B22F}"/>
              </a:ext>
            </a:extLst>
          </p:cNvPr>
          <p:cNvSpPr txBox="1"/>
          <p:nvPr/>
        </p:nvSpPr>
        <p:spPr>
          <a:xfrm>
            <a:off x="1095375" y="3078163"/>
            <a:ext cx="110966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Tools ermöglichen dem LLM-Agent das Handeln über die Sprachfunktion hinaus! (Rechnen, …)</a:t>
            </a:r>
          </a:p>
          <a:p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1" dirty="0"/>
              <a:t>Toolaufruf durch LLM-Agent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Aufruf erfolgt erst, wenn LLM eindeutige Pose von User erhält &amp;das RAG Informationen dazu liefert </a:t>
            </a:r>
            <a:r>
              <a:rPr lang="de-DE" sz="1600" dirty="0">
                <a:sym typeface="Wingdings" panose="05000000000000000000" pitchFamily="2" charset="2"/>
              </a:rPr>
              <a:t> Wenn Nicht: LLM iteriert und fragt User nochmal nach eindeutiger Pose</a:t>
            </a:r>
            <a:endParaRPr lang="de-DE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Aufruf der Tools erfolgt durch deren Beschreibung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		             </a:t>
            </a:r>
            <a:r>
              <a:rPr lang="de-DE" b="1" dirty="0"/>
              <a:t>Folgende Tools wurden implementiert: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B774C41-668E-4932-8072-31B5000B7CC6}"/>
              </a:ext>
            </a:extLst>
          </p:cNvPr>
          <p:cNvSpPr/>
          <p:nvPr/>
        </p:nvSpPr>
        <p:spPr>
          <a:xfrm>
            <a:off x="1270000" y="5638482"/>
            <a:ext cx="3962400" cy="1107995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260DD1E-66AA-472E-AC5F-56B0417C6E90}"/>
              </a:ext>
            </a:extLst>
          </p:cNvPr>
          <p:cNvSpPr/>
          <p:nvPr/>
        </p:nvSpPr>
        <p:spPr>
          <a:xfrm>
            <a:off x="5932170" y="5612129"/>
            <a:ext cx="3962400" cy="1107995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644285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Gazebo</a:t>
            </a:r>
            <a:r>
              <a:rPr lang="de-DE" dirty="0"/>
              <a:t>-Simulation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AD0ED1-C711-435B-9ACE-EF921C72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66" y="86574"/>
            <a:ext cx="5456569" cy="2237526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6C1001CB-8725-42F7-8D1B-1B2178F2A1D3}"/>
              </a:ext>
            </a:extLst>
          </p:cNvPr>
          <p:cNvSpPr/>
          <p:nvPr/>
        </p:nvSpPr>
        <p:spPr>
          <a:xfrm rot="5400000">
            <a:off x="11191875" y="527050"/>
            <a:ext cx="638175" cy="314325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3158534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Grenzen des Systems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6BC271F-7D13-4545-B83C-E337A5A7B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050"/>
            <a:ext cx="10725150" cy="4351338"/>
          </a:xfrm>
        </p:spPr>
        <p:txBody>
          <a:bodyPr>
            <a:normAutofit/>
          </a:bodyPr>
          <a:lstStyle/>
          <a:p>
            <a:r>
              <a:rPr lang="de-DE" sz="2400" b="1" dirty="0"/>
              <a:t>Eingabe mehrerer Posen</a:t>
            </a:r>
          </a:p>
          <a:p>
            <a:pPr lvl="1"/>
            <a:r>
              <a:rPr lang="de-DE" sz="2000" dirty="0"/>
              <a:t>LLM </a:t>
            </a:r>
            <a:r>
              <a:rPr lang="de-DE" sz="2000" dirty="0" err="1"/>
              <a:t>published</a:t>
            </a:r>
            <a:r>
              <a:rPr lang="de-DE" sz="2000" dirty="0"/>
              <a:t> beide Posen direkt nacheinander und wartet </a:t>
            </a:r>
            <a:r>
              <a:rPr lang="de-DE" sz="2000" b="1" dirty="0"/>
              <a:t>nicht</a:t>
            </a:r>
            <a:r>
              <a:rPr lang="de-DE" sz="2000" dirty="0"/>
              <a:t> bis die </a:t>
            </a:r>
            <a:r>
              <a:rPr lang="de-DE" sz="2000" dirty="0" err="1"/>
              <a:t>Flag</a:t>
            </a:r>
            <a:r>
              <a:rPr lang="de-DE" sz="2000" dirty="0"/>
              <a:t> von Pose 1 kommt, dass Ziel 1erreicht wurde</a:t>
            </a:r>
          </a:p>
          <a:p>
            <a:pPr lvl="1"/>
            <a:r>
              <a:rPr lang="de-DE" sz="2000" dirty="0"/>
              <a:t>Führt dazu, dass die Navigation zu Ziel 1 Abgebrochen wird und direkt Ziel 2 </a:t>
            </a:r>
            <a:r>
              <a:rPr lang="de-DE" sz="2000" dirty="0" err="1"/>
              <a:t>angesteuter</a:t>
            </a:r>
            <a:r>
              <a:rPr lang="de-DE" sz="2000" dirty="0"/>
              <a:t> wird</a:t>
            </a:r>
          </a:p>
          <a:p>
            <a:endParaRPr lang="de-DE" sz="2400" dirty="0"/>
          </a:p>
          <a:p>
            <a:pPr lvl="2"/>
            <a:endParaRPr lang="de-DE" sz="1800" dirty="0"/>
          </a:p>
          <a:p>
            <a:endParaRPr lang="de-DE" sz="24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C4AC516-6181-4BCE-A38E-C2C6989A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40" y="3199541"/>
            <a:ext cx="8453120" cy="365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4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Systemaufbau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2671A0-B60A-46AE-9069-F08E4AF51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484029"/>
            <a:ext cx="10377487" cy="423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67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DFF90DA4-CF14-40C4-B7BE-5C39A512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568813"/>
            <a:ext cx="11182350" cy="439066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8662AA-5CC5-4F5B-B1F3-44766430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Systemaufbau</a:t>
            </a:r>
          </a:p>
        </p:txBody>
      </p:sp>
      <p:pic>
        <p:nvPicPr>
          <p:cNvPr id="14" name="Grafik 13" descr="Mann, der Baby wickelt">
            <a:extLst>
              <a:ext uri="{FF2B5EF4-FFF2-40B4-BE49-F238E27FC236}">
                <a16:creationId xmlns:a16="http://schemas.microsoft.com/office/drawing/2014/main" id="{1CCC30A5-B12F-4A34-BD5C-B98F5E01A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0760" y="5442096"/>
            <a:ext cx="914400" cy="9144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13D9294B-67EF-4793-B5AB-81B56AB75E45}"/>
              </a:ext>
            </a:extLst>
          </p:cNvPr>
          <p:cNvSpPr/>
          <p:nvPr/>
        </p:nvSpPr>
        <p:spPr>
          <a:xfrm>
            <a:off x="3888740" y="5865495"/>
            <a:ext cx="541020" cy="335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BD65AC5-FC8E-4AF9-9DF6-063156957BF1}"/>
              </a:ext>
            </a:extLst>
          </p:cNvPr>
          <p:cNvSpPr/>
          <p:nvPr/>
        </p:nvSpPr>
        <p:spPr>
          <a:xfrm>
            <a:off x="4222747" y="5697855"/>
            <a:ext cx="45719" cy="236220"/>
          </a:xfrm>
          <a:prstGeom prst="rect">
            <a:avLst/>
          </a:prstGeom>
          <a:solidFill>
            <a:srgbClr val="000000"/>
          </a:solidFill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EEC6D83-CDEA-41D1-881F-96D5EF088217}"/>
              </a:ext>
            </a:extLst>
          </p:cNvPr>
          <p:cNvSpPr/>
          <p:nvPr/>
        </p:nvSpPr>
        <p:spPr>
          <a:xfrm rot="16200000">
            <a:off x="4106096" y="5799903"/>
            <a:ext cx="45719" cy="273422"/>
          </a:xfrm>
          <a:prstGeom prst="rect">
            <a:avLst/>
          </a:prstGeom>
          <a:solidFill>
            <a:srgbClr val="0000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2800"/>
          </a:p>
        </p:txBody>
      </p:sp>
      <p:pic>
        <p:nvPicPr>
          <p:cNvPr id="21" name="Grafik 20" descr="Robot">
            <a:extLst>
              <a:ext uri="{FF2B5EF4-FFF2-40B4-BE49-F238E27FC236}">
                <a16:creationId xmlns:a16="http://schemas.microsoft.com/office/drawing/2014/main" id="{1637D1EB-42C5-402A-B16C-2B04435FBA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3720" y="3421243"/>
            <a:ext cx="563880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Breitbild</PresentationFormat>
  <Paragraphs>103</Paragraphs>
  <Slides>15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Wingdings</vt:lpstr>
      <vt:lpstr>Office</vt:lpstr>
      <vt:lpstr>Moderne Roboterkonzepte</vt:lpstr>
      <vt:lpstr>Übersicht (Folie ausgeblendet lassen)</vt:lpstr>
      <vt:lpstr>Einführung</vt:lpstr>
      <vt:lpstr>Aufgabenstellung</vt:lpstr>
      <vt:lpstr>Setup</vt:lpstr>
      <vt:lpstr>Systemaufbau</vt:lpstr>
      <vt:lpstr>Systemaufbau</vt:lpstr>
      <vt:lpstr>User-Interface</vt:lpstr>
      <vt:lpstr>RAG-System</vt:lpstr>
      <vt:lpstr>LLM-Agent</vt:lpstr>
      <vt:lpstr>Tooling</vt:lpstr>
      <vt:lpstr>Gazebo-Simulation</vt:lpstr>
      <vt:lpstr>Grenzen des Systems</vt:lpstr>
      <vt:lpstr>Systemaufbau</vt:lpstr>
      <vt:lpstr>Systemaufbau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Moderne Roboterkonzepte</dc:title>
  <dc:creator>Felix Dauser</dc:creator>
  <cp:lastModifiedBy>Felix Dauser</cp:lastModifiedBy>
  <cp:revision>25</cp:revision>
  <dcterms:created xsi:type="dcterms:W3CDTF">2026-01-19T09:55:27Z</dcterms:created>
  <dcterms:modified xsi:type="dcterms:W3CDTF">2026-01-19T18:57:58Z</dcterms:modified>
</cp:coreProperties>
</file>